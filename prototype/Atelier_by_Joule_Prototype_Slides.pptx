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9" r:id="rId4"/>
    <p:sldId id="272" r:id="rId5"/>
    <p:sldId id="273" r:id="rId6"/>
    <p:sldId id="276" r:id="rId7"/>
    <p:sldId id="275" r:id="rId8"/>
    <p:sldId id="277" r:id="rId9"/>
    <p:sldId id="278" r:id="rId10"/>
    <p:sldId id="280" r:id="rId11"/>
    <p:sldId id="281" r:id="rId12"/>
    <p:sldId id="28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B5BF33C-EA29-4A01-53D9-149AF05184D5}">
          <p14:sldIdLst>
            <p14:sldId id="270"/>
            <p14:sldId id="271"/>
            <p14:sldId id="279"/>
            <p14:sldId id="272"/>
            <p14:sldId id="273"/>
            <p14:sldId id="276"/>
            <p14:sldId id="275"/>
            <p14:sldId id="277"/>
            <p14:sldId id="278"/>
            <p14:sldId id="280"/>
            <p14:sldId id="281"/>
            <p14:sldId id="282"/>
          </p14:sldIdLst>
        </p14:section>
        <p14:section name="Problem" id="{4FCBA8D2-8F5D-1DE7-44E1-24F115333D70}">
          <p14:sldIdLst/>
        </p14:section>
        <p14:section name="Opportunity" id="{CAE74D50-98DB-7534-A293-F47C565AD54C}">
          <p14:sldIdLst/>
        </p14:section>
        <p14:section name="Plan" id="{1991A681-8AAD-7B11-D75D-2725B417860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D4B1"/>
    <a:srgbClr val="9DC5FF"/>
    <a:srgbClr val="FFC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929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70FD-1235-4455-58D0-B8C008B8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17EF9-FFCD-EA4C-27C1-EE1F5C9CB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E78529-E4A7-15F3-B065-DC4E8BB9B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DCE8B2-725E-0E2B-C2F7-9F1303E87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22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F5C7A-3DED-0868-DC23-D5AF284B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C420C-2F3F-05D8-5746-D56F68782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7D9E0-BFBE-CC98-CA0A-B19747159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3F627-7200-A3BE-7995-93EAEF476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096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9539-D1C5-880B-E205-14F2E993C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0692E-9CD6-8C40-4B40-58E5D0225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A6866-FAF0-FFC1-E1E8-EB6FDBBA7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CFAD8-0E35-4D51-5064-3F48B634AF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3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482B-FAD9-3814-C286-D357B406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C521E-F5C2-27F9-4D45-B8F2F66E1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7D769-631E-D5B0-006A-B86DF1927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2305E-CAAA-CB58-1A16-71B85126B5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90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EF30-1BF3-E754-B892-5D5CA165E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CCA93-9CDC-25F7-A916-0EDE3EF9A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07E51-F2F0-4C3E-ABB2-EDC4BBA64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DB309-9DF4-9393-FE53-93BD4083B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32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B81A-3153-860F-56B3-99D9DD7CF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EEEAC-6DD5-3472-E42F-FFE35C8E8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0E25C-4643-71E0-8D4F-58371A9C3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BBB15-B56A-BB95-36CF-97CC0CFDD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19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977FA-4D61-C602-2085-563118D4D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D4AE9-BB50-FB77-BA94-FB7A957F0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E530B-4644-B978-8EFE-408CCE54E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FB95A-4709-83ED-5246-DD6FE1A90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57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D399-C7A9-E194-843C-2A1873D2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2160D-8E35-550D-069F-90256730E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319B6-AE5D-B3AC-2B24-F9B74602E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B92E4-14EF-690A-A598-B8D7FCAE01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81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1F8C2-5CAD-909C-F583-0CCF73B2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95FA2-F33E-FB1E-1708-FA669CFB4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41FFD-2129-18B8-BD84-3BA8BD811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60E43-40A9-A698-5C69-401A44894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38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A6C13-7424-1E03-9C3A-7ED99DA5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06BC6-7EDC-C66F-D690-1DB254FB4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062D9-96F8-5625-A5AC-99BE797AC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7A8E-510D-A624-82F2-EDB22581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75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68DC-84B4-4C9E-4A9A-D1203F8C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8E73D-08C2-53B3-6628-CA35D98B6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30A18-8B7A-7137-974C-07BB67FA2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43314-8242-0314-9522-08406CE71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275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9413-50BE-2FAC-473F-AE6F97C5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BF60E-B9ED-A22D-42BE-1D66D324F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87F87-D161-B222-CD45-B58E319B2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1B6D0-D762-76CC-0F94-8BFBE7994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28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62000" y="698500"/>
            <a:ext cx="8890000" cy="317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kern="0" spc="1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r>
              <a:rPr lang="en-US" sz="1200" kern="0" spc="100" dirty="0">
                <a:solidFill>
                  <a:schemeClr val="accent6"/>
                </a:solidFill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62000" y="2095500"/>
            <a:ext cx="95250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Deck title</a:t>
            </a:r>
            <a:endParaRPr lang="en-US" sz="5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62000" y="3365500"/>
            <a:ext cx="8255000" cy="444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Subtitle</a:t>
            </a:r>
            <a:endParaRPr lang="en-US" sz="18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62000" y="3873500"/>
            <a:ext cx="8255000" cy="88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Description</a:t>
            </a:r>
            <a:endParaRPr lang="en-US" sz="17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62000" y="6032500"/>
            <a:ext cx="10668000" cy="317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Authors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kern="0" spc="1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1200" kern="0" spc="100" dirty="0">
                <a:solidFill>
                  <a:schemeClr val="accent1"/>
                </a:solidFill>
              </a:rPr>
              <a:t>SECTION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62000" y="889000"/>
            <a:ext cx="10668000" cy="69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Slide title</a:t>
            </a: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762000" y="62865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Atelier, by Joule  ·  SAP × Aritzia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(blu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62000" y="698500"/>
            <a:ext cx="8890000" cy="317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kern="0" spc="1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200" kern="0" spc="100" dirty="0">
                <a:solidFill>
                  <a:schemeClr val="bg1"/>
                </a:solidFill>
              </a:rPr>
              <a:t>KICKER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62000" y="1905000"/>
            <a:ext cx="95250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5600" b="1" dirty="0">
                <a:solidFill>
                  <a:schemeClr val="bg1"/>
                </a:solidFill>
              </a:rPr>
              <a:t>Big statement</a:t>
            </a:r>
            <a:endParaRPr lang="en-US" sz="56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62000" y="4064000"/>
            <a:ext cx="8890000" cy="101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Supporting line</a:t>
            </a:r>
            <a:endParaRPr lang="en-US" sz="1700" dirty="0"/>
          </a:p>
        </p:txBody>
      </p:sp>
      <p:sp>
        <p:nvSpPr>
          <p:cNvPr id="5" name="Text 0"/>
          <p:cNvSpPr/>
          <p:nvPr/>
        </p:nvSpPr>
        <p:spPr>
          <a:xfrm>
            <a:off x="762000" y="6286500"/>
            <a:ext cx="635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Atelier, by Joule  ·  SAP × Aritzia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62000" y="2540000"/>
            <a:ext cx="8890000" cy="3175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kern="0" spc="1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r>
              <a:rPr lang="en-US" sz="1200" kern="0" spc="100" dirty="0">
                <a:solidFill>
                  <a:schemeClr val="accent6"/>
                </a:solidFill>
              </a:rPr>
              <a:t>01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62000" y="2921000"/>
            <a:ext cx="9525000" cy="88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 name</a:t>
            </a: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microsoft.com/office/2017/06/relationships/model3d" Target="../media/model3d1.glb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9505-E09C-1437-FDCD-B0A76AEB0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FE2BAE-9B61-4EA2-05F5-3EA20BFD446B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kern="0" spc="100" dirty="0">
                <a:solidFill>
                  <a:schemeClr val="accent1"/>
                </a:solidFill>
              </a:rPr>
              <a:t>PROTOTYPE </a:t>
            </a:r>
            <a:endParaRPr lang="en-US" sz="12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43A1FF6-F33B-0CD5-14A3-4B9F9F3ECAFC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2487198" y="3398130"/>
            <a:ext cx="3724917" cy="70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0" dirty="0">
                <a:solidFill>
                  <a:schemeClr val="tx1"/>
                </a:solidFill>
              </a:rPr>
              <a:t>Atelier, by Joule</a:t>
            </a:r>
            <a:endParaRPr lang="en-US" sz="4000" b="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3C16A6-0A9E-C0EC-0558-446B2A5331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0" name="3D Model 19">
                <a:extLst>
                  <a:ext uri="{FF2B5EF4-FFF2-40B4-BE49-F238E27FC236}">
                    <a16:creationId xmlns:a16="http://schemas.microsoft.com/office/drawing/2014/main" id="{846804BC-BC50-7859-5CB0-F3EE41E2E25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56924088"/>
                  </p:ext>
                </p:extLst>
              </p:nvPr>
            </p:nvGraphicFramePr>
            <p:xfrm>
              <a:off x="6841281" y="548316"/>
              <a:ext cx="3390699" cy="570008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390699" cy="5700084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684200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0" name="3D Model 19">
                <a:extLst>
                  <a:ext uri="{FF2B5EF4-FFF2-40B4-BE49-F238E27FC236}">
                    <a16:creationId xmlns:a16="http://schemas.microsoft.com/office/drawing/2014/main" id="{846804BC-BC50-7859-5CB0-F3EE41E2E25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41281" y="548316"/>
                <a:ext cx="3390699" cy="5700084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 0">
            <a:extLst>
              <a:ext uri="{FF2B5EF4-FFF2-40B4-BE49-F238E27FC236}">
                <a16:creationId xmlns:a16="http://schemas.microsoft.com/office/drawing/2014/main" id="{8453776C-AB65-D2CC-CE52-5EEEE97351A0}"/>
              </a:ext>
            </a:extLst>
          </p:cNvPr>
          <p:cNvSpPr txBox="1">
            <a:spLocks/>
          </p:cNvSpPr>
          <p:nvPr/>
        </p:nvSpPr>
        <p:spPr>
          <a:xfrm>
            <a:off x="2487198" y="2665677"/>
            <a:ext cx="4015202" cy="9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5400" dirty="0"/>
              <a:t>Introducing</a:t>
            </a:r>
          </a:p>
        </p:txBody>
      </p:sp>
    </p:spTree>
    <p:extLst>
      <p:ext uri="{BB962C8B-B14F-4D97-AF65-F5344CB8AC3E}">
        <p14:creationId xmlns:p14="http://schemas.microsoft.com/office/powerpoint/2010/main" val="123806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078D4-62C4-0226-ABBB-DDCE9BE3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9F46D4-6697-E049-5B0C-B2BDCD5DF88C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1B8F790-4CB3-39C1-0D37-10753FFF573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AEA80F-62CC-FB15-AEB8-4715293AF52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4880BAFE-7C18-7BF3-5EBC-B5C5DF036287}"/>
              </a:ext>
            </a:extLst>
          </p:cNvPr>
          <p:cNvSpPr txBox="1">
            <a:spLocks/>
          </p:cNvSpPr>
          <p:nvPr/>
        </p:nvSpPr>
        <p:spPr>
          <a:xfrm>
            <a:off x="761999" y="1107139"/>
            <a:ext cx="3315768" cy="137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Turn on the earpiece.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35CBB6D0-AA36-1BF7-9326-18A5E4CE7717}"/>
              </a:ext>
            </a:extLst>
          </p:cNvPr>
          <p:cNvSpPr txBox="1"/>
          <p:nvPr/>
        </p:nvSpPr>
        <p:spPr>
          <a:xfrm>
            <a:off x="761998" y="2493235"/>
            <a:ext cx="331576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Everything begins when you turn on the earpiece.</a:t>
            </a:r>
            <a:endParaRPr lang="en-US" sz="18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B18F11D-E471-0729-CFCF-6BC8DDA3878D}"/>
              </a:ext>
            </a:extLst>
          </p:cNvPr>
          <p:cNvSpPr txBox="1"/>
          <p:nvPr/>
        </p:nvSpPr>
        <p:spPr>
          <a:xfrm>
            <a:off x="762000" y="3164020"/>
            <a:ext cx="331576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is recorded if you have the earpiece turned off.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AA7D8AF8-DB35-B3D7-B79A-58418C8393B2}"/>
              </a:ext>
            </a:extLst>
          </p:cNvPr>
          <p:cNvSpPr txBox="1"/>
          <p:nvPr/>
        </p:nvSpPr>
        <p:spPr>
          <a:xfrm>
            <a:off x="6292553" y="2164758"/>
            <a:ext cx="1048284" cy="241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On/off button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C5A6754B-3487-840C-E9FC-E2B28AD74C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3704084"/>
                  </p:ext>
                </p:extLst>
              </p:nvPr>
            </p:nvGraphicFramePr>
            <p:xfrm>
              <a:off x="4467805" y="1208314"/>
              <a:ext cx="5920072" cy="982525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920072" cy="9825251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10479888" ay="317356" az="1077040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12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C5A6754B-3487-840C-E9FC-E2B28AD74C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7805" y="1208314"/>
                <a:ext cx="5920072" cy="9825251"/>
              </a:xfrm>
              <a:prstGeom prst="rect">
                <a:avLst/>
              </a:prstGeom>
            </p:spPr>
          </p:pic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C321E5A-B37E-B44E-EC97-6DA72A884F50}"/>
              </a:ext>
            </a:extLst>
          </p:cNvPr>
          <p:cNvCxnSpPr>
            <a:cxnSpLocks/>
          </p:cNvCxnSpPr>
          <p:nvPr/>
        </p:nvCxnSpPr>
        <p:spPr>
          <a:xfrm flipH="1" flipV="1">
            <a:off x="7427841" y="2383959"/>
            <a:ext cx="546931" cy="96576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192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">
        <p159:morph option="byObject"/>
      </p:transition>
    </mc:Choice>
    <mc:Fallback>
      <p:transition spd="slow" advClick="0" advTm="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CAEA2-1360-E54E-A2D2-C1F682BFA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val 29">
            <a:extLst>
              <a:ext uri="{FF2B5EF4-FFF2-40B4-BE49-F238E27FC236}">
                <a16:creationId xmlns:a16="http://schemas.microsoft.com/office/drawing/2014/main" id="{C9A83FAB-F7E5-0BF6-C77B-F29B18F86E97}"/>
              </a:ext>
            </a:extLst>
          </p:cNvPr>
          <p:cNvSpPr/>
          <p:nvPr/>
        </p:nvSpPr>
        <p:spPr>
          <a:xfrm>
            <a:off x="8255749" y="2512401"/>
            <a:ext cx="157207" cy="158634"/>
          </a:xfrm>
          <a:prstGeom prst="ellipse">
            <a:avLst/>
          </a:prstGeom>
          <a:solidFill>
            <a:srgbClr val="FFC09D"/>
          </a:solidFill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95DE350-C089-2B46-8DE1-2A19A0D43A50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03CDE6B-297A-BD59-C127-702F2664B1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883E40-12A8-ACF1-B6F5-847A02E2333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6778B2A8-BD04-C096-1FA6-B47F61E63DE9}"/>
              </a:ext>
            </a:extLst>
          </p:cNvPr>
          <p:cNvSpPr txBox="1">
            <a:spLocks/>
          </p:cNvSpPr>
          <p:nvPr/>
        </p:nvSpPr>
        <p:spPr>
          <a:xfrm>
            <a:off x="761999" y="1107139"/>
            <a:ext cx="3315768" cy="137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Turn on the earpiece.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7803259B-AB2B-4892-1960-FF4399B7B8E5}"/>
              </a:ext>
            </a:extLst>
          </p:cNvPr>
          <p:cNvSpPr txBox="1"/>
          <p:nvPr/>
        </p:nvSpPr>
        <p:spPr>
          <a:xfrm>
            <a:off x="761998" y="2493235"/>
            <a:ext cx="331576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Everything begins when you turn on the earpiece.</a:t>
            </a:r>
            <a:endParaRPr lang="en-US" sz="18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88F9938-0C5F-4113-556B-1F811F7A3EB4}"/>
              </a:ext>
            </a:extLst>
          </p:cNvPr>
          <p:cNvSpPr txBox="1"/>
          <p:nvPr/>
        </p:nvSpPr>
        <p:spPr>
          <a:xfrm>
            <a:off x="762000" y="3164020"/>
            <a:ext cx="331576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is recorded if you have the earpiece turned off.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202464F-E9B6-8A0B-853D-737E9B084899}"/>
              </a:ext>
            </a:extLst>
          </p:cNvPr>
          <p:cNvSpPr txBox="1"/>
          <p:nvPr/>
        </p:nvSpPr>
        <p:spPr>
          <a:xfrm>
            <a:off x="6292553" y="2164758"/>
            <a:ext cx="1048284" cy="241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On/off button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C1891822-7264-76B8-B3E3-417E6E87BCD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67805" y="1208314"/>
              <a:ext cx="5920072" cy="982525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920072" cy="9825251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10479888" ay="317356" az="1077040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12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C1891822-7264-76B8-B3E3-417E6E87BC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7805" y="1208314"/>
                <a:ext cx="5920072" cy="9825251"/>
              </a:xfrm>
              <a:prstGeom prst="rect">
                <a:avLst/>
              </a:prstGeom>
            </p:spPr>
          </p:pic>
        </mc:Fallback>
      </mc:AlternateContent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841FBDB-ED1D-87C2-A479-9D68435A7759}"/>
              </a:ext>
            </a:extLst>
          </p:cNvPr>
          <p:cNvCxnSpPr>
            <a:cxnSpLocks/>
          </p:cNvCxnSpPr>
          <p:nvPr/>
        </p:nvCxnSpPr>
        <p:spPr>
          <a:xfrm flipH="1" flipV="1">
            <a:off x="7427841" y="2383959"/>
            <a:ext cx="546931" cy="96576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5416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500">
        <p159:morph option="byObject"/>
      </p:transition>
    </mc:Choice>
    <mc:Fallback>
      <p:transition advClick="0" advTm="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51B74-C29B-AA67-F9AC-45D37BA19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FDBC4B6-63BC-0AFF-783D-7839279C9C55}"/>
              </a:ext>
            </a:extLst>
          </p:cNvPr>
          <p:cNvSpPr/>
          <p:nvPr/>
        </p:nvSpPr>
        <p:spPr>
          <a:xfrm>
            <a:off x="8255749" y="2512401"/>
            <a:ext cx="157207" cy="158634"/>
          </a:xfrm>
          <a:prstGeom prst="ellipse">
            <a:avLst/>
          </a:prstGeom>
          <a:solidFill>
            <a:srgbClr val="A3D4B1"/>
          </a:solidFill>
          <a:ln>
            <a:noFill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67BCE7B-B072-FCE4-7E8D-9C9FDE2212A7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4C3C829-0976-3681-49FD-7D63ADB9FC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EF9B89-BF48-3E32-8285-0787B7B675AF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C76FA95A-395A-351F-CEFE-2855C2390B60}"/>
              </a:ext>
            </a:extLst>
          </p:cNvPr>
          <p:cNvSpPr txBox="1">
            <a:spLocks/>
          </p:cNvSpPr>
          <p:nvPr/>
        </p:nvSpPr>
        <p:spPr>
          <a:xfrm>
            <a:off x="761999" y="1107139"/>
            <a:ext cx="3315768" cy="1373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Turn on the earpiece.</a:t>
            </a: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0E3575A-1A06-B6B6-D613-8A63CAD18F27}"/>
              </a:ext>
            </a:extLst>
          </p:cNvPr>
          <p:cNvSpPr txBox="1"/>
          <p:nvPr/>
        </p:nvSpPr>
        <p:spPr>
          <a:xfrm>
            <a:off x="761998" y="2493235"/>
            <a:ext cx="331576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Everything begins when you turn on the earpiece.</a:t>
            </a:r>
            <a:endParaRPr lang="en-US" sz="18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411B7DF-C53F-741A-EB56-541B4DFA1027}"/>
              </a:ext>
            </a:extLst>
          </p:cNvPr>
          <p:cNvSpPr txBox="1"/>
          <p:nvPr/>
        </p:nvSpPr>
        <p:spPr>
          <a:xfrm>
            <a:off x="762000" y="3164020"/>
            <a:ext cx="3315769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is recorded if you have the earpiece turned off.</a:t>
            </a:r>
            <a:endParaRPr lang="en-US" sz="14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929FBF1-1E8A-159F-7A17-7C61E43AA1C9}"/>
              </a:ext>
            </a:extLst>
          </p:cNvPr>
          <p:cNvSpPr txBox="1"/>
          <p:nvPr/>
        </p:nvSpPr>
        <p:spPr>
          <a:xfrm>
            <a:off x="6292553" y="2164758"/>
            <a:ext cx="1048284" cy="241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On/off button</a:t>
            </a:r>
            <a:endParaRPr lang="en-US" sz="1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F855783A-7786-9A95-D4CA-0097FF4364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67805" y="1208314"/>
              <a:ext cx="5920072" cy="982525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5920072" cy="9825251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10479888" ay="317356" az="1077040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12923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F855783A-7786-9A95-D4CA-0097FF4364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7805" y="1208314"/>
                <a:ext cx="5920072" cy="982525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7">
            <a:extLst>
              <a:ext uri="{FF2B5EF4-FFF2-40B4-BE49-F238E27FC236}">
                <a16:creationId xmlns:a16="http://schemas.microsoft.com/office/drawing/2014/main" id="{EAA0B007-DE11-234B-3E94-82C6AFC4F114}"/>
              </a:ext>
            </a:extLst>
          </p:cNvPr>
          <p:cNvSpPr txBox="1"/>
          <p:nvPr/>
        </p:nvSpPr>
        <p:spPr>
          <a:xfrm>
            <a:off x="6232188" y="2387167"/>
            <a:ext cx="1169014" cy="212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i="1" dirty="0">
                <a:solidFill>
                  <a:schemeClr val="accent1">
                    <a:lumMod val="75000"/>
                  </a:schemeClr>
                </a:solidFill>
              </a:rPr>
              <a:t>✦  Powered on.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C84FA9F-09DD-4228-CF3E-F99EE04A1C7B}"/>
              </a:ext>
            </a:extLst>
          </p:cNvPr>
          <p:cNvCxnSpPr>
            <a:cxnSpLocks/>
          </p:cNvCxnSpPr>
          <p:nvPr/>
        </p:nvCxnSpPr>
        <p:spPr>
          <a:xfrm flipH="1" flipV="1">
            <a:off x="7427841" y="2383959"/>
            <a:ext cx="546931" cy="96576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318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AB4AD-08CA-22D3-CD92-120C18FD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E6AFC-C98C-D9B8-5FC5-0ECBF35B8429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DB02103-D649-0210-DD30-E6099EBF5C1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93F2F4-A635-933D-E66B-AB5FFDE469F1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1D76D451-6305-2FB2-9F8B-0AD639A309CC}"/>
              </a:ext>
            </a:extLst>
          </p:cNvPr>
          <p:cNvSpPr txBox="1">
            <a:spLocks/>
          </p:cNvSpPr>
          <p:nvPr/>
        </p:nvSpPr>
        <p:spPr>
          <a:xfrm>
            <a:off x="761999" y="1107139"/>
            <a:ext cx="3315768" cy="120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Talk to exactly who you need.</a:t>
            </a: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FF8B266A-CE43-BD56-F09A-127BE6295C2B}"/>
              </a:ext>
            </a:extLst>
          </p:cNvPr>
          <p:cNvSpPr txBox="1"/>
          <p:nvPr/>
        </p:nvSpPr>
        <p:spPr>
          <a:xfrm>
            <a:off x="9067075" y="2047623"/>
            <a:ext cx="140151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dirty="0"/>
              <a:t>“Hey Joule, connect me to a boutique associate.”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876658BE-FE65-0BFD-FD51-D1B5A1BB823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43065925"/>
                  </p:ext>
                </p:extLst>
              </p:nvPr>
            </p:nvGraphicFramePr>
            <p:xfrm>
              <a:off x="6020487" y="1037379"/>
              <a:ext cx="6093176" cy="1005374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093176" cy="10053741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582266" ay="203336" az="3475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1292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876658BE-FE65-0BFD-FD51-D1B5A1BB82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0487" y="1037379"/>
                <a:ext cx="6093176" cy="1005374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6">
            <a:extLst>
              <a:ext uri="{FF2B5EF4-FFF2-40B4-BE49-F238E27FC236}">
                <a16:creationId xmlns:a16="http://schemas.microsoft.com/office/drawing/2014/main" id="{7686CB39-89F6-7A16-BD59-783A6634C632}"/>
              </a:ext>
            </a:extLst>
          </p:cNvPr>
          <p:cNvSpPr txBox="1"/>
          <p:nvPr/>
        </p:nvSpPr>
        <p:spPr>
          <a:xfrm>
            <a:off x="761998" y="2493234"/>
            <a:ext cx="3315769" cy="5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Voice-commands activate specific voice channels. 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1B9AE56-B1A4-973F-7AE0-11DD2C7FEC05}"/>
              </a:ext>
            </a:extLst>
          </p:cNvPr>
          <p:cNvSpPr txBox="1"/>
          <p:nvPr/>
        </p:nvSpPr>
        <p:spPr>
          <a:xfrm>
            <a:off x="762000" y="3164019"/>
            <a:ext cx="3315769" cy="7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400" dirty="0"/>
              <a:t>Use voice-activated commands to talk to the specific person you need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88472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">
        <p159:morph option="byObject"/>
      </p:transition>
    </mc:Choice>
    <mc:Fallback>
      <p:transition spd="slow" advClick="0" advTm="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2C096-88FF-E62C-4EB1-DE60B12D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A4CE51C-1E41-0A30-3961-70284E099832}"/>
              </a:ext>
            </a:extLst>
          </p:cNvPr>
          <p:cNvSpPr/>
          <p:nvPr/>
        </p:nvSpPr>
        <p:spPr>
          <a:xfrm>
            <a:off x="7984392" y="2305142"/>
            <a:ext cx="329326" cy="329326"/>
          </a:xfrm>
          <a:prstGeom prst="ellipse">
            <a:avLst/>
          </a:prstGeom>
          <a:solidFill>
            <a:srgbClr val="9DC5FF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64E5F01-A354-FE9F-5907-339EAFBFDDDC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82A5A42-C334-93DA-25B7-C59965779DB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91CF368-AB33-71D5-0831-9FC891236FD7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0A3A5F34-FB34-49E4-D77E-34535A694BF5}"/>
              </a:ext>
            </a:extLst>
          </p:cNvPr>
          <p:cNvSpPr txBox="1">
            <a:spLocks/>
          </p:cNvSpPr>
          <p:nvPr/>
        </p:nvSpPr>
        <p:spPr>
          <a:xfrm>
            <a:off x="761999" y="1107139"/>
            <a:ext cx="3315768" cy="120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Talk to exactly who you need.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6FE8A75C-8BC2-6EAD-797E-C7316A4EF82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020487" y="1037379"/>
              <a:ext cx="6093176" cy="1005374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6093176" cy="10053741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582266" ay="203336" az="3475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212922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6FE8A75C-8BC2-6EAD-797E-C7316A4EF82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20487" y="1037379"/>
                <a:ext cx="6093176" cy="10053741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6">
            <a:extLst>
              <a:ext uri="{FF2B5EF4-FFF2-40B4-BE49-F238E27FC236}">
                <a16:creationId xmlns:a16="http://schemas.microsoft.com/office/drawing/2014/main" id="{8238C217-9371-11CE-ABFD-198DAB17DCD2}"/>
              </a:ext>
            </a:extLst>
          </p:cNvPr>
          <p:cNvSpPr txBox="1"/>
          <p:nvPr/>
        </p:nvSpPr>
        <p:spPr>
          <a:xfrm>
            <a:off x="761998" y="2493234"/>
            <a:ext cx="3315769" cy="5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Voice-commands activate specific voice channels. 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821EB0-4CC8-C9DC-5E66-EA141AC05F31}"/>
              </a:ext>
            </a:extLst>
          </p:cNvPr>
          <p:cNvSpPr txBox="1"/>
          <p:nvPr/>
        </p:nvSpPr>
        <p:spPr>
          <a:xfrm>
            <a:off x="762000" y="3164019"/>
            <a:ext cx="3315769" cy="7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400" dirty="0"/>
              <a:t>Use voice-activated commands to talk to the specific person you need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DC67C631-89C5-5C91-52C4-F9ECCC5C9588}"/>
              </a:ext>
            </a:extLst>
          </p:cNvPr>
          <p:cNvSpPr txBox="1"/>
          <p:nvPr/>
        </p:nvSpPr>
        <p:spPr>
          <a:xfrm>
            <a:off x="9067075" y="2047623"/>
            <a:ext cx="140151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dirty="0"/>
              <a:t>“Hey Joule, connect me to a boutique associate.”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4362190-1B21-341B-0479-552EAA65E863}"/>
              </a:ext>
            </a:extLst>
          </p:cNvPr>
          <p:cNvSpPr txBox="1"/>
          <p:nvPr/>
        </p:nvSpPr>
        <p:spPr>
          <a:xfrm>
            <a:off x="9067075" y="2706502"/>
            <a:ext cx="19755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dirty="0">
                <a:solidFill>
                  <a:schemeClr val="accent1">
                    <a:lumMod val="75000"/>
                  </a:schemeClr>
                </a:solidFill>
              </a:rPr>
              <a:t>✦ </a:t>
            </a:r>
            <a:r>
              <a:rPr lang="en-CA" sz="1200" i="1" dirty="0">
                <a:solidFill>
                  <a:schemeClr val="accent1">
                    <a:lumMod val="75000"/>
                  </a:schemeClr>
                </a:solidFill>
              </a:rPr>
              <a:t>You’re connected to Josh.</a:t>
            </a:r>
          </a:p>
        </p:txBody>
      </p:sp>
    </p:spTree>
    <p:extLst>
      <p:ext uri="{BB962C8B-B14F-4D97-AF65-F5344CB8AC3E}">
        <p14:creationId xmlns:p14="http://schemas.microsoft.com/office/powerpoint/2010/main" val="36098340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A5878-2630-F74E-10EE-3E49ADDF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493E450-B377-A723-62A3-1ABA535328BE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47141BF-672F-4CEA-FAFC-AE19BBA98C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9BD953-A5A4-9F83-2170-980215B82A06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806B811-031E-7635-6DE1-7C4F68271F6A}"/>
              </a:ext>
            </a:extLst>
          </p:cNvPr>
          <p:cNvSpPr txBox="1">
            <a:spLocks/>
          </p:cNvSpPr>
          <p:nvPr/>
        </p:nvSpPr>
        <p:spPr>
          <a:xfrm>
            <a:off x="761999" y="1107138"/>
            <a:ext cx="3315768" cy="167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Checking inventory? Just ask.</a:t>
            </a:r>
            <a:endParaRPr lang="en-CA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8CB0EDBC-6D22-0829-862B-A40B1C208AEA}"/>
              </a:ext>
            </a:extLst>
          </p:cNvPr>
          <p:cNvSpPr txBox="1"/>
          <p:nvPr/>
        </p:nvSpPr>
        <p:spPr>
          <a:xfrm>
            <a:off x="6022736" y="2135760"/>
            <a:ext cx="158953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dirty="0"/>
              <a:t>“Hey Joule, do we have Effortless Pants in Black, size 4?”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D32E54AA-AB8D-7B35-FDBE-C6DBD6AA56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0594530"/>
                  </p:ext>
                </p:extLst>
              </p:nvPr>
            </p:nvGraphicFramePr>
            <p:xfrm>
              <a:off x="4077767" y="609600"/>
              <a:ext cx="7069000" cy="1176654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069000" cy="11766544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10534438" ay="523421" az="1075964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44892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D32E54AA-AB8D-7B35-FDBE-C6DBD6AA56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7767" y="609600"/>
                <a:ext cx="7069000" cy="11766544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6">
            <a:extLst>
              <a:ext uri="{FF2B5EF4-FFF2-40B4-BE49-F238E27FC236}">
                <a16:creationId xmlns:a16="http://schemas.microsoft.com/office/drawing/2014/main" id="{8BFC4AF8-B441-4A9A-7639-C902338C2BDB}"/>
              </a:ext>
            </a:extLst>
          </p:cNvPr>
          <p:cNvSpPr txBox="1"/>
          <p:nvPr/>
        </p:nvSpPr>
        <p:spPr>
          <a:xfrm>
            <a:off x="762000" y="2883996"/>
            <a:ext cx="3315769" cy="5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Instant inventory checks through the earpiece.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F4D74F-53A1-64C2-1400-0EEEFD32FE72}"/>
              </a:ext>
            </a:extLst>
          </p:cNvPr>
          <p:cNvSpPr txBox="1"/>
          <p:nvPr/>
        </p:nvSpPr>
        <p:spPr>
          <a:xfrm>
            <a:off x="762002" y="3554781"/>
            <a:ext cx="3315769" cy="7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400" dirty="0"/>
              <a:t>Check stock on floor, in back, nearby stores and online through a voice command.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26010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Click="0" advTm="500">
        <p159:morph option="byObject"/>
      </p:transition>
    </mc:Choice>
    <mc:Fallback>
      <p:transition spd="slow" advClick="0" advTm="5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5AB07-A205-AC91-F5F5-3F9BE4F79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887F63C-9617-213B-BEE8-576D7A15A8AB}"/>
              </a:ext>
            </a:extLst>
          </p:cNvPr>
          <p:cNvSpPr/>
          <p:nvPr/>
        </p:nvSpPr>
        <p:spPr>
          <a:xfrm>
            <a:off x="8541177" y="2178563"/>
            <a:ext cx="306447" cy="306447"/>
          </a:xfrm>
          <a:prstGeom prst="ellipse">
            <a:avLst/>
          </a:prstGeom>
          <a:solidFill>
            <a:srgbClr val="9DC5FF"/>
          </a:solidFill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041917A-C4B4-BF91-545F-12618AFF5113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68FF15C-E071-6340-392E-B27939E256E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7B56D5D-88FA-6923-9F8B-81002E4473E2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3C041C6-55BF-DA50-38E4-F29CE57804C4}"/>
              </a:ext>
            </a:extLst>
          </p:cNvPr>
          <p:cNvSpPr txBox="1">
            <a:spLocks/>
          </p:cNvSpPr>
          <p:nvPr/>
        </p:nvSpPr>
        <p:spPr>
          <a:xfrm>
            <a:off x="761999" y="1107138"/>
            <a:ext cx="3315768" cy="167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Checking inventory? Just ask.</a:t>
            </a:r>
            <a:endParaRPr lang="en-CA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CEA53082-5105-D27A-1A0A-B3515123579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14003396"/>
                  </p:ext>
                </p:extLst>
              </p:nvPr>
            </p:nvGraphicFramePr>
            <p:xfrm>
              <a:off x="4077767" y="609600"/>
              <a:ext cx="7069000" cy="1176654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069000" cy="11766544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10534438" ay="523421" az="1075964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448922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CEA53082-5105-D27A-1A0A-B351512357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77767" y="609600"/>
                <a:ext cx="7069000" cy="11766544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6">
            <a:extLst>
              <a:ext uri="{FF2B5EF4-FFF2-40B4-BE49-F238E27FC236}">
                <a16:creationId xmlns:a16="http://schemas.microsoft.com/office/drawing/2014/main" id="{A1A43DDB-88E3-5023-162C-ACBB044CF304}"/>
              </a:ext>
            </a:extLst>
          </p:cNvPr>
          <p:cNvSpPr txBox="1"/>
          <p:nvPr/>
        </p:nvSpPr>
        <p:spPr>
          <a:xfrm>
            <a:off x="762000" y="2883996"/>
            <a:ext cx="3315769" cy="5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Instant inventory checks through the earpiece.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4C59BD-36BC-C113-1A56-531ADE33472A}"/>
              </a:ext>
            </a:extLst>
          </p:cNvPr>
          <p:cNvSpPr txBox="1"/>
          <p:nvPr/>
        </p:nvSpPr>
        <p:spPr>
          <a:xfrm>
            <a:off x="762002" y="3554781"/>
            <a:ext cx="3315769" cy="7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400" dirty="0"/>
              <a:t>Check stock on floor, in back, nearby stores and online through a voice command.</a:t>
            </a:r>
            <a:endParaRPr lang="en-US" sz="14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96DA252-BC56-2BC9-AC46-DCE06E1F1C51}"/>
              </a:ext>
            </a:extLst>
          </p:cNvPr>
          <p:cNvSpPr txBox="1"/>
          <p:nvPr/>
        </p:nvSpPr>
        <p:spPr>
          <a:xfrm>
            <a:off x="6022736" y="2135760"/>
            <a:ext cx="158953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dirty="0"/>
              <a:t>“Hey Joule, do we have Effortless Pants in Black, size 4?”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6B66CE1-BC81-95B7-0C77-9279A3819DD7}"/>
              </a:ext>
            </a:extLst>
          </p:cNvPr>
          <p:cNvSpPr txBox="1"/>
          <p:nvPr/>
        </p:nvSpPr>
        <p:spPr>
          <a:xfrm>
            <a:off x="6022736" y="2834260"/>
            <a:ext cx="1169014" cy="431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i="1" dirty="0">
                <a:solidFill>
                  <a:schemeClr val="accent1">
                    <a:lumMod val="75000"/>
                  </a:schemeClr>
                </a:solidFill>
              </a:rPr>
              <a:t>✦  Yes, six pairs at Metrotown.</a:t>
            </a:r>
          </a:p>
        </p:txBody>
      </p:sp>
    </p:spTree>
    <p:extLst>
      <p:ext uri="{BB962C8B-B14F-4D97-AF65-F5344CB8AC3E}">
        <p14:creationId xmlns:p14="http://schemas.microsoft.com/office/powerpoint/2010/main" val="319215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AFFEE-E42D-24EE-B241-64228ABA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2E77EE-FF4B-7854-5BC4-539F0206A00A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455A02D-0CC1-D66D-7107-9A88C9C992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20CECB-CBBA-523E-B7B5-266E08C70957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CC46B9F3-DFE2-1221-515D-F5B62EF96D7E}"/>
              </a:ext>
            </a:extLst>
          </p:cNvPr>
          <p:cNvSpPr txBox="1">
            <a:spLocks/>
          </p:cNvSpPr>
          <p:nvPr/>
        </p:nvSpPr>
        <p:spPr>
          <a:xfrm>
            <a:off x="761998" y="1107138"/>
            <a:ext cx="3695701" cy="167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Extract product data from conversations.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6751E2DE-8EED-F368-A7EC-53EF63DA76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9298318"/>
                  </p:ext>
                </p:extLst>
              </p:nvPr>
            </p:nvGraphicFramePr>
            <p:xfrm>
              <a:off x="5490120" y="689743"/>
              <a:ext cx="9673680" cy="16200189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673680" cy="16200189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302679" ay="466966" az="4108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963112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6751E2DE-8EED-F368-A7EC-53EF63DA76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90120" y="689743"/>
                <a:ext cx="9673680" cy="16200189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 6">
            <a:extLst>
              <a:ext uri="{FF2B5EF4-FFF2-40B4-BE49-F238E27FC236}">
                <a16:creationId xmlns:a16="http://schemas.microsoft.com/office/drawing/2014/main" id="{455F0251-00E4-CE66-1275-4F9708E8A36B}"/>
              </a:ext>
            </a:extLst>
          </p:cNvPr>
          <p:cNvSpPr txBox="1"/>
          <p:nvPr/>
        </p:nvSpPr>
        <p:spPr>
          <a:xfrm>
            <a:off x="762000" y="2883996"/>
            <a:ext cx="3315769" cy="57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More access to in-depth product and user insights.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14DE940-C212-8BB4-C93A-3F4CD47712AC}"/>
              </a:ext>
            </a:extLst>
          </p:cNvPr>
          <p:cNvSpPr txBox="1"/>
          <p:nvPr/>
        </p:nvSpPr>
        <p:spPr>
          <a:xfrm>
            <a:off x="762002" y="3554781"/>
            <a:ext cx="3315769" cy="78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400" dirty="0"/>
              <a:t>Earpieces collect anonymized product data that sync with SAP Business Data Cloud (visualized in Analytics Cloud).</a:t>
            </a: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D76229A9-C2BC-F882-A0FD-6C5D21B3504E}"/>
              </a:ext>
            </a:extLst>
          </p:cNvPr>
          <p:cNvSpPr txBox="1"/>
          <p:nvPr/>
        </p:nvSpPr>
        <p:spPr>
          <a:xfrm>
            <a:off x="8702912" y="1539669"/>
            <a:ext cx="2092088" cy="606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i="1" dirty="0">
                <a:solidFill>
                  <a:schemeClr val="accent1">
                    <a:lumMod val="75000"/>
                  </a:schemeClr>
                </a:solidFill>
              </a:rPr>
              <a:t>✦  </a:t>
            </a:r>
            <a:r>
              <a:rPr lang="en-CA" sz="1200" dirty="0">
                <a:solidFill>
                  <a:schemeClr val="accent1">
                    <a:lumMod val="75000"/>
                  </a:schemeClr>
                </a:solidFill>
              </a:rPr>
              <a:t>“Six people tried on the Effortless Pants today, but no one bought a pair.”</a:t>
            </a:r>
            <a:endParaRPr lang="en-CA" sz="12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586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30AEB-BD6A-B305-EA8A-18D484F72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AP Analytics Cloud for Planning | SAP Financial Management">
            <a:extLst>
              <a:ext uri="{FF2B5EF4-FFF2-40B4-BE49-F238E27FC236}">
                <a16:creationId xmlns:a16="http://schemas.microsoft.com/office/drawing/2014/main" id="{C005BB4D-E5C9-E9DB-CA35-ADE684C40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128"/>
          <a:stretch>
            <a:fillRect/>
          </a:stretch>
        </p:blipFill>
        <p:spPr>
          <a:xfrm>
            <a:off x="4870565" y="317500"/>
            <a:ext cx="6559435" cy="5362821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4386EF1-876B-589F-E8C6-ECC6454FA483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EF92AE4-D9D4-9E01-083C-7DCA171A6F0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0F22BA-8543-859F-C093-BCD2A3341DDD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7C1F2A51-F522-5C05-95EB-F6E2608EE09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29026198"/>
                  </p:ext>
                </p:extLst>
              </p:nvPr>
            </p:nvGraphicFramePr>
            <p:xfrm>
              <a:off x="762000" y="1177679"/>
              <a:ext cx="8953500" cy="14994128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8953500" cy="14994128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302679" ay="466966" az="4108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820646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7C1F2A51-F522-5C05-95EB-F6E2608EE09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2000" y="1177679"/>
                <a:ext cx="8953500" cy="14994128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 7">
            <a:extLst>
              <a:ext uri="{FF2B5EF4-FFF2-40B4-BE49-F238E27FC236}">
                <a16:creationId xmlns:a16="http://schemas.microsoft.com/office/drawing/2014/main" id="{BC8E0CFF-4D6B-5E43-373A-B20799AD949F}"/>
              </a:ext>
            </a:extLst>
          </p:cNvPr>
          <p:cNvSpPr txBox="1"/>
          <p:nvPr/>
        </p:nvSpPr>
        <p:spPr>
          <a:xfrm>
            <a:off x="3267312" y="1014422"/>
            <a:ext cx="1291988" cy="44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A" sz="1200" i="1" dirty="0">
                <a:solidFill>
                  <a:schemeClr val="accent1">
                    <a:lumMod val="75000"/>
                  </a:schemeClr>
                </a:solidFill>
              </a:rPr>
              <a:t>✦  </a:t>
            </a:r>
            <a:r>
              <a:rPr lang="en-CA" sz="1200" dirty="0">
                <a:solidFill>
                  <a:schemeClr val="accent1">
                    <a:lumMod val="75000"/>
                  </a:schemeClr>
                </a:solidFill>
              </a:rPr>
              <a:t>“Synced to Analytics Cloud.</a:t>
            </a:r>
            <a:endParaRPr lang="en-CA" sz="12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4589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BC0B-B660-C78C-02A8-F9DD498B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331E3C-D095-F1C9-EDF3-D49A716520EB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C7F895F-0B7A-0698-DEE5-C0F1F58553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1004EF-A5AF-1112-CBC0-A7BFAEE106C5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724B38A4-C609-5C1B-B506-FE1D6ABCA62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1496516"/>
                  </p:ext>
                </p:extLst>
              </p:nvPr>
            </p:nvGraphicFramePr>
            <p:xfrm rot="18147967">
              <a:off x="3211358" y="-1458946"/>
              <a:ext cx="5769284" cy="9577392"/>
            </p:xfrm>
            <a:graphic>
              <a:graphicData uri="http://schemas.microsoft.com/office/drawing/2017/model3d">
                <am3d:model3d r:embed="rId3">
                  <am3d:spPr>
                    <a:xfrm rot="18147967">
                      <a:off x="0" y="0"/>
                      <a:ext cx="5769284" cy="9577392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4844" ay="732848" az="101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16528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724B38A4-C609-5C1B-B506-FE1D6ABCA62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8147967">
                <a:off x="3211358" y="-1458946"/>
                <a:ext cx="5769284" cy="95773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12110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CE91-60CB-04C3-2DA6-3EF71B00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D508A5-785C-988A-6CB7-2AFF0709001D}"/>
              </a:ext>
            </a:extLst>
          </p:cNvPr>
          <p:cNvSpPr>
            <a:spLocks noGrp="1"/>
          </p:cNvSpPr>
          <p:nvPr>
            <p:ph type="body" idx="100" hasCustomPrompt="1"/>
          </p:nvPr>
        </p:nvSpPr>
        <p:spPr>
          <a:xfrm>
            <a:off x="762000" y="6096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r>
              <a:rPr lang="en-US" dirty="0"/>
              <a:t>PROTOTYPE 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A6059D0-94F1-1579-FF9E-3CFC880678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95000" y="6286500"/>
            <a:ext cx="6350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9863E0-F7AD-766D-4CFA-075030ABB0AC}"/>
              </a:ext>
            </a:extLst>
          </p:cNvPr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CA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3" name="3D Model 32">
                <a:extLst>
                  <a:ext uri="{FF2B5EF4-FFF2-40B4-BE49-F238E27FC236}">
                    <a16:creationId xmlns:a16="http://schemas.microsoft.com/office/drawing/2014/main" id="{95D61FE1-3F28-6D15-AABA-4EB719EB1A9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rot="18147967">
              <a:off x="3211358" y="-1458946"/>
              <a:ext cx="5769284" cy="9577392"/>
            </p:xfrm>
            <a:graphic>
              <a:graphicData uri="http://schemas.microsoft.com/office/drawing/2017/model3d">
                <am3d:model3d r:embed="rId3">
                  <am3d:spPr>
                    <a:xfrm rot="18147967">
                      <a:off x="0" y="0"/>
                      <a:ext cx="5769284" cy="9577392"/>
                    </a:xfrm>
                    <a:prstGeom prst="rect">
                      <a:avLst/>
                    </a:prstGeom>
                  </am3d:spPr>
                  <am3d:camera>
                    <am3d:pos x="0" y="0" z="556432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197905" d="1000000"/>
                    <am3d:preTrans dx="-6245713" dy="-2503768" dz="1912470"/>
                    <am3d:scale>
                      <am3d:sx n="1000000" d="1000000"/>
                      <am3d:sy n="1000000" d="1000000"/>
                      <am3d:sz n="1000000" d="1000000"/>
                    </am3d:scale>
                    <am3d:rot ax="4844" ay="732848" az="1013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165281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3" name="3D Model 32">
                <a:extLst>
                  <a:ext uri="{FF2B5EF4-FFF2-40B4-BE49-F238E27FC236}">
                    <a16:creationId xmlns:a16="http://schemas.microsoft.com/office/drawing/2014/main" id="{95D61FE1-3F28-6D15-AABA-4EB719EB1A9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8147967">
                <a:off x="3211358" y="-1458946"/>
                <a:ext cx="5769284" cy="9577392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 7">
            <a:extLst>
              <a:ext uri="{FF2B5EF4-FFF2-40B4-BE49-F238E27FC236}">
                <a16:creationId xmlns:a16="http://schemas.microsoft.com/office/drawing/2014/main" id="{558A3B41-1AF6-8A6C-542D-47E72A55651B}"/>
              </a:ext>
            </a:extLst>
          </p:cNvPr>
          <p:cNvSpPr txBox="1"/>
          <p:nvPr/>
        </p:nvSpPr>
        <p:spPr>
          <a:xfrm>
            <a:off x="7253751" y="1228814"/>
            <a:ext cx="1048284" cy="503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Microphone, flip up to mute</a:t>
            </a:r>
            <a:endParaRPr lang="en-US" sz="12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084A1B-6E5B-4682-235E-E97E3A0482BF}"/>
              </a:ext>
            </a:extLst>
          </p:cNvPr>
          <p:cNvCxnSpPr>
            <a:cxnSpLocks/>
          </p:cNvCxnSpPr>
          <p:nvPr/>
        </p:nvCxnSpPr>
        <p:spPr>
          <a:xfrm flipH="1">
            <a:off x="6375163" y="1381489"/>
            <a:ext cx="658025" cy="0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7">
            <a:extLst>
              <a:ext uri="{FF2B5EF4-FFF2-40B4-BE49-F238E27FC236}">
                <a16:creationId xmlns:a16="http://schemas.microsoft.com/office/drawing/2014/main" id="{1784A174-C8E2-F925-D7BB-7F8C4934AA61}"/>
              </a:ext>
            </a:extLst>
          </p:cNvPr>
          <p:cNvSpPr txBox="1"/>
          <p:nvPr/>
        </p:nvSpPr>
        <p:spPr>
          <a:xfrm>
            <a:off x="9856486" y="2177501"/>
            <a:ext cx="1828259" cy="503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Plugs into work phone. Also available as USB-C.</a:t>
            </a:r>
            <a:endParaRPr lang="en-US" sz="12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DFC4F6-DC50-3335-DC0E-AC5161405C7C}"/>
              </a:ext>
            </a:extLst>
          </p:cNvPr>
          <p:cNvCxnSpPr>
            <a:cxnSpLocks/>
          </p:cNvCxnSpPr>
          <p:nvPr/>
        </p:nvCxnSpPr>
        <p:spPr>
          <a:xfrm flipH="1" flipV="1">
            <a:off x="10643243" y="2736643"/>
            <a:ext cx="384797" cy="439412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7">
            <a:extLst>
              <a:ext uri="{FF2B5EF4-FFF2-40B4-BE49-F238E27FC236}">
                <a16:creationId xmlns:a16="http://schemas.microsoft.com/office/drawing/2014/main" id="{EF9F1DF2-C36E-BD44-0C00-E2D5927FAF4A}"/>
              </a:ext>
            </a:extLst>
          </p:cNvPr>
          <p:cNvSpPr txBox="1"/>
          <p:nvPr/>
        </p:nvSpPr>
        <p:spPr>
          <a:xfrm>
            <a:off x="3255236" y="1104188"/>
            <a:ext cx="1048284" cy="24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On/off switch</a:t>
            </a:r>
            <a:endParaRPr lang="en-US" sz="1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B02C3B-DB0C-31FA-8474-C2A8095ADB78}"/>
              </a:ext>
            </a:extLst>
          </p:cNvPr>
          <p:cNvCxnSpPr>
            <a:cxnSpLocks/>
          </p:cNvCxnSpPr>
          <p:nvPr/>
        </p:nvCxnSpPr>
        <p:spPr>
          <a:xfrm flipH="1">
            <a:off x="2820112" y="1298961"/>
            <a:ext cx="316195" cy="433580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7">
            <a:extLst>
              <a:ext uri="{FF2B5EF4-FFF2-40B4-BE49-F238E27FC236}">
                <a16:creationId xmlns:a16="http://schemas.microsoft.com/office/drawing/2014/main" id="{7483EFF7-D6DE-05DF-6D1A-6B693E6A43ED}"/>
              </a:ext>
            </a:extLst>
          </p:cNvPr>
          <p:cNvSpPr txBox="1"/>
          <p:nvPr/>
        </p:nvSpPr>
        <p:spPr>
          <a:xfrm>
            <a:off x="4116570" y="2479210"/>
            <a:ext cx="1048284" cy="249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Volume dial</a:t>
            </a:r>
            <a:endParaRPr lang="en-US" sz="12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82933C-647D-E561-1959-5759E407C9B5}"/>
              </a:ext>
            </a:extLst>
          </p:cNvPr>
          <p:cNvCxnSpPr>
            <a:cxnSpLocks/>
          </p:cNvCxnSpPr>
          <p:nvPr/>
        </p:nvCxnSpPr>
        <p:spPr>
          <a:xfrm flipH="1">
            <a:off x="3384135" y="2583787"/>
            <a:ext cx="615297" cy="0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7">
            <a:extLst>
              <a:ext uri="{FF2B5EF4-FFF2-40B4-BE49-F238E27FC236}">
                <a16:creationId xmlns:a16="http://schemas.microsoft.com/office/drawing/2014/main" id="{85C55AFB-782C-E1A5-ED27-0B743F3E1C61}"/>
              </a:ext>
            </a:extLst>
          </p:cNvPr>
          <p:cNvSpPr txBox="1"/>
          <p:nvPr/>
        </p:nvSpPr>
        <p:spPr>
          <a:xfrm>
            <a:off x="2133600" y="4847273"/>
            <a:ext cx="1452785" cy="227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Adjustable earpiece</a:t>
            </a:r>
            <a:endParaRPr lang="en-US" sz="12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60A2D18-9AFA-0B74-AB18-7B6A81C543AD}"/>
              </a:ext>
            </a:extLst>
          </p:cNvPr>
          <p:cNvCxnSpPr>
            <a:cxnSpLocks/>
          </p:cNvCxnSpPr>
          <p:nvPr/>
        </p:nvCxnSpPr>
        <p:spPr>
          <a:xfrm flipH="1" flipV="1">
            <a:off x="2478280" y="4289989"/>
            <a:ext cx="381713" cy="433802"/>
          </a:xfrm>
          <a:prstGeom prst="line">
            <a:avLst/>
          </a:prstGeom>
          <a:ln w="63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135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telier by Joule">
  <a:themeElements>
    <a:clrScheme name="Atelier by Joule">
      <a:dk1>
        <a:srgbClr val="131E29"/>
      </a:dk1>
      <a:lt1>
        <a:srgbClr val="FFFFFF"/>
      </a:lt1>
      <a:dk2>
        <a:srgbClr val="303235"/>
      </a:dk2>
      <a:lt2>
        <a:srgbClr val="EFF1F2"/>
      </a:lt2>
      <a:accent1>
        <a:srgbClr val="0070F2"/>
      </a:accent1>
      <a:accent2>
        <a:srgbClr val="EBF8FF"/>
      </a:accent2>
      <a:accent3>
        <a:srgbClr val="256F3A"/>
      </a:accent3>
      <a:accent4>
        <a:srgbClr val="E76500"/>
      </a:accent4>
      <a:accent5>
        <a:srgbClr val="556B82"/>
      </a:accent5>
      <a:accent6>
        <a:srgbClr val="89D1FF"/>
      </a:accent6>
      <a:hlink>
        <a:srgbClr val="0070F2"/>
      </a:hlink>
      <a:folHlink>
        <a:srgbClr val="556B82"/>
      </a:folHlink>
    </a:clrScheme>
    <a:fontScheme name="Atelier by Joul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strumen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399</Words>
  <Application>Microsoft Office PowerPoint</Application>
  <PresentationFormat>Widescreen</PresentationFormat>
  <Paragraphs>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Instrument Sans</vt:lpstr>
      <vt:lpstr>Plus Jakarta Sans</vt:lpstr>
      <vt:lpstr>Atelier by Joule</vt:lpstr>
      <vt:lpstr>Atelier, by Joule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Atelier, by Joule</dc:title>
  <dc:subject>PptxGenJS Presentation</dc:subject>
  <dc:creator>Dora Hu, Brady Spur, Cherry Wang</dc:creator>
  <cp:lastModifiedBy>dorahu@student.ubc.ca</cp:lastModifiedBy>
  <cp:revision>2</cp:revision>
  <dcterms:created xsi:type="dcterms:W3CDTF">2026-10-24T21:38:08Z</dcterms:created>
  <dcterms:modified xsi:type="dcterms:W3CDTF">2026-10-24T23:18:42Z</dcterms:modified>
</cp:coreProperties>
</file>